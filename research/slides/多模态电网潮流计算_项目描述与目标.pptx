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069de50f9e41cc" /><Relationship Type="http://schemas.openxmlformats.org/officeDocument/2006/relationships/extended-properties" Target="/docProps/app.xml" Id="R7bdd3befb84643cb" /><Relationship Type="http://schemas.openxmlformats.org/officeDocument/2006/relationships/officeDocument" Target="/ppt/presentation.xml" Id="Rcfb5c1e09f9e4d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b2e6909ba642b3"/>
  </p:sldMasterIdLst>
  <p:notesMasterIdLst>
    <p:notesMasterId xmlns:r="http://schemas.openxmlformats.org/officeDocument/2006/relationships" r:id="R7284d8e6bea14fd5"/>
  </p:notesMasterIdLst>
  <p:sldIdLst>
    <p:sldId xmlns:r="http://schemas.openxmlformats.org/officeDocument/2006/relationships" id="256" r:id="Rf5e6834f9954481d"/>
    <p:sldId xmlns:r="http://schemas.openxmlformats.org/officeDocument/2006/relationships" id="257" r:id="R9e669a67a5504413"/>
    <p:sldId xmlns:r="http://schemas.openxmlformats.org/officeDocument/2006/relationships" id="258" r:id="R5211532244fa4711"/>
    <p:sldId xmlns:r="http://schemas.openxmlformats.org/officeDocument/2006/relationships" id="259" r:id="Rbe104e3ef63c40c6"/>
    <p:sldId xmlns:r="http://schemas.openxmlformats.org/officeDocument/2006/relationships" id="260" r:id="Rf5bf9f17eca84eee"/>
    <p:sldId xmlns:r="http://schemas.openxmlformats.org/officeDocument/2006/relationships" id="261" r:id="R337bfc24c4f74468"/>
    <p:sldId xmlns:r="http://schemas.openxmlformats.org/officeDocument/2006/relationships" id="262" r:id="Rf5af24d055f74a9b"/>
    <p:sldId xmlns:r="http://schemas.openxmlformats.org/officeDocument/2006/relationships" id="263" r:id="Rf45702e606b3489d"/>
    <p:sldId xmlns:r="http://schemas.openxmlformats.org/officeDocument/2006/relationships" id="264" r:id="R0100443d85f843bb"/>
    <p:sldId xmlns:r="http://schemas.openxmlformats.org/officeDocument/2006/relationships" id="265" r:id="Reb758eae59b94f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13608c95d34b6a" /><Relationship Type="http://schemas.openxmlformats.org/officeDocument/2006/relationships/slideMaster" Target="/ppt/slideMasters/slideMaster1.xml" Id="Rd5b2e6909ba642b3" /><Relationship Type="http://schemas.openxmlformats.org/officeDocument/2006/relationships/notesMaster" Target="/ppt/notesMasters/notesMaster1.xml" Id="R7284d8e6bea14fd5" /><Relationship Type="http://schemas.openxmlformats.org/officeDocument/2006/relationships/presProps" Target="/ppt/presProps.xml" Id="Rb1d627db4a97411e" /><Relationship Type="http://schemas.openxmlformats.org/officeDocument/2006/relationships/tableStyles" Target="/ppt/tableStyles.xml" Id="R1bf08769a96c4fb2" /><Relationship Type="http://schemas.openxmlformats.org/officeDocument/2006/relationships/slide" Target="/ppt/slides/slide1.xml" Id="Rf5e6834f9954481d" /><Relationship Type="http://schemas.openxmlformats.org/officeDocument/2006/relationships/slide" Target="/ppt/slides/slide2.xml" Id="R9e669a67a5504413" /><Relationship Type="http://schemas.openxmlformats.org/officeDocument/2006/relationships/slide" Target="/ppt/slides/slide3.xml" Id="R5211532244fa4711" /><Relationship Type="http://schemas.openxmlformats.org/officeDocument/2006/relationships/slide" Target="/ppt/slides/slide4.xml" Id="Rbe104e3ef63c40c6" /><Relationship Type="http://schemas.openxmlformats.org/officeDocument/2006/relationships/slide" Target="/ppt/slides/slide5.xml" Id="Rf5bf9f17eca84eee" /><Relationship Type="http://schemas.openxmlformats.org/officeDocument/2006/relationships/slide" Target="/ppt/slides/slide6.xml" Id="R337bfc24c4f74468" /><Relationship Type="http://schemas.openxmlformats.org/officeDocument/2006/relationships/slide" Target="/ppt/slides/slide7.xml" Id="Rf5af24d055f74a9b" /><Relationship Type="http://schemas.openxmlformats.org/officeDocument/2006/relationships/slide" Target="/ppt/slides/slide8.xml" Id="Rf45702e606b3489d" /><Relationship Type="http://schemas.openxmlformats.org/officeDocument/2006/relationships/slide" Target="/ppt/slides/slide9.xml" Id="R0100443d85f843bb" /><Relationship Type="http://schemas.openxmlformats.org/officeDocument/2006/relationships/slide" Target="/ppt/slides/slide10.xml" Id="Reb758eae59b94f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5d3702727f49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a899cb918c418d" /><Relationship Type="http://schemas.openxmlformats.org/officeDocument/2006/relationships/notesMaster" Target="/ppt/notesMasters/notesMaster1.xml" Id="R188bcc6e75b748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25b61f25df49f7" /><Relationship Type="http://schemas.openxmlformats.org/officeDocument/2006/relationships/notesMaster" Target="/ppt/notesMasters/notesMaster1.xml" Id="Ref05a63806004e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40e9ce1b104e34" /><Relationship Type="http://schemas.openxmlformats.org/officeDocument/2006/relationships/notesMaster" Target="/ppt/notesMasters/notesMaster1.xml" Id="R02f1130bb52d40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91886e2abe4064" /><Relationship Type="http://schemas.openxmlformats.org/officeDocument/2006/relationships/notesMaster" Target="/ppt/notesMasters/notesMaster1.xml" Id="R8349c8e5a42243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8fb7f256c34f54" /><Relationship Type="http://schemas.openxmlformats.org/officeDocument/2006/relationships/notesMaster" Target="/ppt/notesMasters/notesMaster1.xml" Id="R85836d98bb144b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44e48b1ebd4a3b" /><Relationship Type="http://schemas.openxmlformats.org/officeDocument/2006/relationships/notesMaster" Target="/ppt/notesMasters/notesMaster1.xml" Id="Re62fc97bf7074c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eac4c33dc34947" /><Relationship Type="http://schemas.openxmlformats.org/officeDocument/2006/relationships/notesMaster" Target="/ppt/notesMasters/notesMaster1.xml" Id="R2b485ddb84094c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1d7315a6df44cd" /><Relationship Type="http://schemas.openxmlformats.org/officeDocument/2006/relationships/notesMaster" Target="/ppt/notesMasters/notesMaster1.xml" Id="Rdc381be623f44f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25cda348fa432e" /><Relationship Type="http://schemas.openxmlformats.org/officeDocument/2006/relationships/notesMaster" Target="/ppt/notesMasters/notesMaster1.xml" Id="Rdd8f08d72de94a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101a4d3c004a4c" /><Relationship Type="http://schemas.openxmlformats.org/officeDocument/2006/relationships/notesMaster" Target="/ppt/notesMasters/notesMaster1.xml" Id="Re1ce2f149da046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主目标是多模态电网潮流计算，世界生成器负责提供可控且可验证的场景。</a:t>
            </a:r>
          </a:p>
          <a:p xmlns:a="http://schemas.openxmlformats.org/drawingml/2006/main">
            <a:r>
              <a:t>项目关注现有基础、核心目标和可逐步扩展的研究空间。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D:/MyWork/孔老师的电网项目/PF-Delta/SimGenr/outputs/city_scale_aware_preview/small_debug_seed42/figures/stage_10_grid_topology/grid_topology_overview.png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公开数据并非没有，而是各自解决不同问题。</a:t>
            </a:r>
          </a:p>
          <a:p xmlns:a="http://schemas.openxmlformats.org/drawingml/2006/main">
            <a:r>
              <a:t>我们的差异化价值是把地理、天气、城市、源荷和电网放在统一场景里，并由成熟求解器产生潮流标签。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环境和天气不是直接替代电气量，而是构造源荷与设备运行条件。</a:t>
            </a:r>
          </a:p>
          <a:p xmlns:a="http://schemas.openxmlformats.org/drawingml/2006/main">
            <a:r>
              <a:t>论文主标签应由AC求解器产生；现有DC潮流保留为快速基线和近似误差对照。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生成器已经具备多尺度地形、城市、源荷、电网和运行模块。</a:t>
            </a:r>
          </a:p>
          <a:p xmlns:a="http://schemas.openxmlformats.org/drawingml/2006/main">
            <a:r>
              <a:t>下一步要把每个经验规则替换或约束为有来源、有单位、可校准的解析模型。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D:/MyWork/孔老师的电网项目/PF-Delta/SimGenr/outputs/city_scale_aware_preview/small_debug_seed42/figures/stage_07_land_use_load_zones/built_environment_overlay.png</a:t>
            </a:r>
          </a:p>
          <a:p xmlns:a="http://schemas.openxmlformats.org/drawingml/2006/main">
            <a:r>
              <a:t>D:/MyWork/孔老师的电网项目/PF-Delta/SimGenr/outputs/city_scale_aware_preview/small_debug_seed42/figures/stage_10_grid_topology/grid_topology_overview.png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地形、水文和天气构成外部环境链。</a:t>
            </a:r>
          </a:p>
          <a:p xmlns:a="http://schemas.openxmlformats.org/drawingml/2006/main">
            <a:r>
              <a:t>水文可比较D8与D∞；天气可形成不依赖神经网络的平流扩散与凝结基线。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D:/MyWork/孔老师的电网项目/PF-Delta/SimGenr/outputs/city_scale_aware_preview/small_debug_seed42/figures/stage_02_hydrology/hydrology_overview.png</a:t>
            </a:r>
          </a:p>
          <a:p xmlns:a="http://schemas.openxmlformats.org/drawingml/2006/main">
            <a:r>
              <a:t>D:/MyWork/孔老师的电网项目/PF-Delta/SimGenr/outputs/city_scale_aware_preview/small_debug_seed42/figures/stage_04_climate_background/climate_overview.png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电网物理链包含参数、拓扑、AC/DC潮流、调度、储能和N-1。</a:t>
            </a:r>
          </a:p>
          <a:p xmlns:a="http://schemas.openxmlformats.org/drawingml/2006/main">
            <a:r>
              <a:t>标准算例可用于确认求解接口和程序化网络标签的一致性。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D:/MyWork/孔老师的电网项目/PF-Delta/SimGenr/outputs/city_scale_aware_preview/small_debug_seed42/figures/stage_08_energy_load_candidates/energy_candidate_overview.png</a:t>
            </a:r>
          </a:p>
          <a:p xmlns:a="http://schemas.openxmlformats.org/drawingml/2006/main">
            <a:r>
              <a:t>D:/MyWork/孔老师的电网项目/PF-Delta/SimGenr/outputs/city_scale_aware_preview/small_debug_seed42/figures/stage_11_grid_operation/source_load_timeseries.png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系统由环境、城市源荷和电网运行三部分组成。</a:t>
            </a:r>
          </a:p>
          <a:p xmlns:a="http://schemas.openxmlformats.org/drawingml/2006/main">
            <a:r>
              <a:t>统一的数据契约使每个解析模块可以单独替换和验证。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期望能力不是按时间排列，而是描述Benchmark逐步成熟的方向。</a:t>
            </a:r>
          </a:p>
          <a:p xmlns:a="http://schemas.openxmlformats.org/drawingml/2006/main">
            <a:r>
              <a:t>解析生成和物理求解分别解决场景可控性与标签可信度。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分阶段调研计划按生成器顺序拆解这些问题。</a:t>
            </a:r>
          </a:p>
          <a:p xmlns:a="http://schemas.openxmlformats.org/drawingml/2006/main">
            <a:r>
              <a:t>调研重点是形成明确规律和验证依据，而不是只做神经网络拟合。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Benchmark论文的核心不是生成数量，而是评价问题是否清楚、标签是否可信、协议是否能区分模型能力。</a:t>
            </a:r>
          </a:p>
          <a:p xmlns:a="http://schemas.openxmlformats.org/drawingml/2006/main">
            <a:r>
              <a:t>真实数据校准和适用边界必须在文档和论文中明确。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ea2604b4c446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e8bf990ceb4b0f" /><Relationship Type="http://schemas.openxmlformats.org/officeDocument/2006/relationships/slideLayout" Target="/ppt/slideLayouts/slideLayout1.xml" Id="R5197d17545c34d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97d17545c34d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3fd9e50c845f9" /><Relationship Type="http://schemas.openxmlformats.org/officeDocument/2006/relationships/image" Target="/ppt/media/image.png" Id="Rb1df01c103c34518" /><Relationship Type="http://schemas.openxmlformats.org/officeDocument/2006/relationships/notesSlide" Target="/ppt/notesSlides/notesSlide1.xml" Id="R420ae531397840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bdfa6d712422a" /><Relationship Type="http://schemas.openxmlformats.org/officeDocument/2006/relationships/notesSlide" Target="/ppt/notesSlides/notesSlide2.xml" Id="Re09af26f99c14e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b6e5b56414f79" /><Relationship Type="http://schemas.openxmlformats.org/officeDocument/2006/relationships/notesSlide" Target="/ppt/notesSlides/notesSlide3.xml" Id="Re79235c5fb634a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88cf7f37243d0" /><Relationship Type="http://schemas.openxmlformats.org/officeDocument/2006/relationships/image" Target="/ppt/media/image2.png" Id="Rd007ed141f29461f" /><Relationship Type="http://schemas.openxmlformats.org/officeDocument/2006/relationships/image" Target="/ppt/media/image3.png" Id="R668490eff8cd449c" /><Relationship Type="http://schemas.openxmlformats.org/officeDocument/2006/relationships/notesSlide" Target="/ppt/notesSlides/notesSlide4.xml" Id="R29e25d6105034a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1d5d342ea4938" /><Relationship Type="http://schemas.openxmlformats.org/officeDocument/2006/relationships/image" Target="/ppt/media/image4.png" Id="R0a5e774958224e7b" /><Relationship Type="http://schemas.openxmlformats.org/officeDocument/2006/relationships/image" Target="/ppt/media/image5.png" Id="Rad066907861f4fb6" /><Relationship Type="http://schemas.openxmlformats.org/officeDocument/2006/relationships/notesSlide" Target="/ppt/notesSlides/notesSlide5.xml" Id="R7d8a0768251446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3b8825874466e" /><Relationship Type="http://schemas.openxmlformats.org/officeDocument/2006/relationships/image" Target="/ppt/media/image6.png" Id="Rae2a89dd9cd94f2a" /><Relationship Type="http://schemas.openxmlformats.org/officeDocument/2006/relationships/image" Target="/ppt/media/image7.png" Id="R84f3b323b0814239" /><Relationship Type="http://schemas.openxmlformats.org/officeDocument/2006/relationships/notesSlide" Target="/ppt/notesSlides/notesSlide6.xml" Id="Ra79064da90c241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d819b34db4884" /><Relationship Type="http://schemas.openxmlformats.org/officeDocument/2006/relationships/notesSlide" Target="/ppt/notesSlides/notesSlide7.xml" Id="R8148169a0cd049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42a8615bb467e" /><Relationship Type="http://schemas.openxmlformats.org/officeDocument/2006/relationships/notesSlide" Target="/ppt/notesSlides/notesSlide8.xml" Id="Rd7a8c9c7094647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e993eb6a3422d" /><Relationship Type="http://schemas.openxmlformats.org/officeDocument/2006/relationships/notesSlide" Target="/ppt/notesSlides/notesSlide9.xml" Id="R5ffaca7efd9442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0b6270e804850" /><Relationship Type="http://schemas.openxmlformats.org/officeDocument/2006/relationships/notesSlide" Target="/ppt/notesSlides/notesSlide10.xml" Id="R8f86d086009c4e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f01c103c34518"/>
          <a:srcRect xmlns:a="http://schemas.openxmlformats.org/drawingml/2006/main" l="15455" t="0" r="154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0"/>
            <a:ext cx="57912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3706EF-A9E9-4A66-80BF-2B6AA00E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0"/>
            <a:ext cx="123825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6F0DAD-21D5-4382-B562-C6C0735F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90650"/>
            <a:ext cx="571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多模态电网潮流计算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E2C82-4E01-4544-95C3-A07D5DE1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571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项目现状与目标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156E4-836B-4DAF-83D9-3E50660A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05150"/>
            <a:ext cx="509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解析世界建模 · 物理潮流标签 · 跨世界Benchmark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C433F-4C45-4C5F-8809-66E2D515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52875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3DE85-48E5-45C2-BC78-AAB7E8A3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719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rPr>
              <a:t>可解释场景 · 物理标签 · 统一评测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A99FC-583E-4762-B17B-CA36ABB4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245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PF-Delta · 项目描述</a:t>
            </a:r>
          </a:p>
        </p:txBody>
      </p:sp>
    </p:spTree>
    <p:extLst>
      <p:ext uri="{BB962C8B-B14F-4D97-AF65-F5344CB8AC3E}">
        <p14:creationId xmlns:p14="http://schemas.microsoft.com/office/powerpoint/2010/main" val="2877059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9A1CB3-8040-49C7-BCF2-0E253E43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9FE24E-68EF-4166-816D-26F20540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我们缺少的不是单个数据集，而是闭合的多模态物理场景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DF3BBB-7068-4409-8FA6-FEF07632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公开资源分别覆盖电网、气象、风光或负荷，很少同时满足空间、时间、拓扑和潮流标签的一致性。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B3C80-7897-492A-BB10-9DF75A2B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EDE71-D989-48DF-90B4-062E5FAD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348615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AF3F9"/>
          </a:solidFill>
          <a:ln xmlns:a="http://schemas.openxmlformats.org/drawingml/2006/main" w="11430">
            <a:solidFill>
              <a:srgbClr val="2E74B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B7A0E5-B0A9-48D8-B580-FBDC9CEB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4CC805-E47A-4DD3-9152-FF3FB9B8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955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电网算例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51CB30-0830-4161-972F-EBF57526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31432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MATPOWER / PGLib / PowerGraph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拓扑与潮流标签较强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地理天气模态较弱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3654A-6972-4FF5-9522-B3F2D24F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8615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D77213-CBEA-4118-9710-906E1E6D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FD597-07F8-4278-AADC-E4736191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955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rPr>
              <a:t>动态时序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04F6CF-C8EF-4BF6-9B6B-DF67DD47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76525"/>
            <a:ext cx="31432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PSML / OPSD / Grid2Op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运行过程与扰动较强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统一地理对应有限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B8EEA-E220-4D84-A6C3-C218DA29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348615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EF5EA"/>
          </a:solidFill>
          <a:ln xmlns:a="http://schemas.openxmlformats.org/drawingml/2006/main" w="11430">
            <a:solidFill>
              <a:srgbClr val="4C956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38C50C-96F3-48F6-A59A-9134ACE4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3486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56C"/>
          </a:solidFill>
          <a:ln xmlns:a="http://schemas.openxmlformats.org/drawingml/2006/main" w="0">
            <a:solidFill>
              <a:srgbClr val="4C956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1C251-800E-43BD-8589-80F4C392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955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rPr>
              <a:t>资源环境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8B60C-AC71-43D2-A974-3EF98218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76525"/>
            <a:ext cx="314325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ERA5 / WIND / NSRDB / SDWPF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天气与风光较强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完整源荷网络缺失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E8CCB8-6FF0-43A8-B019-6526125B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86350"/>
            <a:ext cx="9144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组合路线：真实数据校准 + 解析场景生成 + AC潮流求解器标签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95F70-F896-4EC5-8A78-95665E1F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810250"/>
            <a:ext cx="817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38" b="0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rPr>
              <a:t>生成器不替代真实电网；它负责控制变量、构造OOD场景和提供完整中间状态。</a:t>
            </a:r>
          </a:p>
        </p:txBody>
      </p:sp>
    </p:spTree>
    <p:extLst>
      <p:ext uri="{BB962C8B-B14F-4D97-AF65-F5344CB8AC3E}">
        <p14:creationId xmlns:p14="http://schemas.microsoft.com/office/powerpoint/2010/main" val="19794131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0C9504-9B09-4D8B-AF75-19069763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主目标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9222F-87A4-4D7A-BF88-565EC9F8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输入多模态场景，输出可复核的节点与线路潮流状态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A9CE4-367D-422D-A941-AC9A58C5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模型被要求逼近物理求解器，同时保持功率平衡、容量边界和跨拓扑泛化能力。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85ACB-5CFC-44EE-8C13-FD93D99E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207D16-48FE-45DD-8FDF-1229ED60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003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3F9"/>
          </a:solidFill>
          <a:ln xmlns:a="http://schemas.openxmlformats.org/drawingml/2006/main" w="11430">
            <a:solidFill>
              <a:srgbClr val="2E74B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C1CE5-D403-47B7-A56B-C4E9B7A7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0030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4D305-8AA2-4188-8099-14199E2E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62225"/>
            <a:ext cx="14192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9FE600-1343-4452-9036-F3EE1C93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43225"/>
            <a:ext cx="14192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地形 · 水文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土地 · 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0DB86-41B4-498F-A9C7-9392BA71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105150"/>
            <a:ext cx="5143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36CA62-2D61-4817-9D88-1D37FE26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4003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8402B-0980-4D0F-8856-7D275059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40030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CBF15-64DC-4EE1-AE9F-61F0188F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562225"/>
            <a:ext cx="14192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rPr>
              <a:t>天气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EC1AF0-2ACF-488D-AAA2-8B1DD0D3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943225"/>
            <a:ext cx="14192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风 · 云雨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温湿 · 辐照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94BC60-2C4F-4A1F-9019-E5A83D04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05150"/>
            <a:ext cx="5143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99820-DFA9-4DFC-818B-68DE9BB1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4003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F5EA"/>
          </a:solidFill>
          <a:ln xmlns:a="http://schemas.openxmlformats.org/drawingml/2006/main" w="11430">
            <a:solidFill>
              <a:srgbClr val="4C956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EFBCE7-4F1B-42D4-B101-025895A3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40030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56C"/>
          </a:solidFill>
          <a:ln xmlns:a="http://schemas.openxmlformats.org/drawingml/2006/main" w="0">
            <a:solidFill>
              <a:srgbClr val="4C956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0891C-716D-47B0-AECB-540ECC2C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62225"/>
            <a:ext cx="14192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rPr>
              <a:t>源荷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695492-CCB4-4333-99CA-050610C6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43225"/>
            <a:ext cx="14192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城市负荷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风光火储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88558E-8762-4554-B9BF-0092CF73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05150"/>
            <a:ext cx="5143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D36955-93D5-4184-AB08-4F9E6A01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4003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BF2E2"/>
          </a:solidFill>
          <a:ln xmlns:a="http://schemas.openxmlformats.org/drawingml/2006/main" w="11430">
            <a:solidFill>
              <a:srgbClr val="D99A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2F0257-685C-44F4-8B95-CDB2A029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40030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5"/>
          </a:solidFill>
          <a:ln xmlns:a="http://schemas.openxmlformats.org/drawingml/2006/main" w="0">
            <a:solidFill>
              <a:srgbClr val="D99A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2F0BB-04FD-4D4A-9D26-2A4DD489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62225"/>
            <a:ext cx="14192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rPr>
              <a:t>电网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776095-9C61-4BF9-8CDE-3C7BA9BE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943225"/>
            <a:ext cx="14192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节点 · 线路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R/X/B · 容量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41125F-F8BC-4F49-B522-448563E3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05150"/>
            <a:ext cx="5143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DE5B5D-3385-41AB-8284-47B8DB64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00300"/>
            <a:ext cx="1762125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CEC"/>
          </a:solidFill>
          <a:ln xmlns:a="http://schemas.openxmlformats.org/drawingml/2006/main" w="11430">
            <a:solidFill>
              <a:srgbClr val="C85C5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E5226F-356A-4AD4-81E8-C6800043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00300"/>
            <a:ext cx="1762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C5C"/>
          </a:solidFill>
          <a:ln xmlns:a="http://schemas.openxmlformats.org/drawingml/2006/main" w="0">
            <a:solidFill>
              <a:srgbClr val="C85C5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E9E2B5-A8BF-4825-AB79-BDD97DA3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62225"/>
            <a:ext cx="14192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rPr>
              <a:t>潮流标签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07ABBC-ECE9-4C19-91A2-97EA0AF4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943225"/>
            <a:ext cx="14192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|V| · θ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Pij · Qij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E314A-D548-4F68-8054-997B77A7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733925"/>
            <a:ext cx="91630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11430">
            <a:solidFill>
              <a:srgbClr val="CBD4D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36503C-739C-4337-A021-AAE16CB6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33950"/>
            <a:ext cx="12573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评价维度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7B2A32-B3F4-4CBD-A1A0-6E743B05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334000"/>
            <a:ext cx="8486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节点/线路误差   ·   最大物理残差   ·   可行/收敛率   ·   约束违规率   ·   推理速度</a:t>
            </a:r>
          </a:p>
        </p:txBody>
      </p:sp>
    </p:spTree>
    <p:extLst>
      <p:ext uri="{BB962C8B-B14F-4D97-AF65-F5344CB8AC3E}">
        <p14:creationId xmlns:p14="http://schemas.microsoft.com/office/powerpoint/2010/main" val="10090623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101996-2365-4304-97C7-330E226E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现有基础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B1A2A-14D0-4C7A-A5BE-6A4C02D0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当前生成器已经形成端到端世界与一周动态运行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3C755-4ABB-4A44-9FA0-2805BC99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现阶段重点不是继续增加视觉效果，而是为每个阶段补齐理论、校准数据和验收指标。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7717D-FF4F-43F7-A25A-19AB091D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7ed141f29461f"/>
          <a:stretch xmlns:a="http://schemas.openxmlformats.org/drawingml/2006/main"/>
        </p:blipFill>
        <p:spPr>
          <a:xfrm xmlns:a="http://schemas.openxmlformats.org/drawingml/2006/main">
            <a:off x="955675" y="2038350"/>
            <a:ext cx="4422775" cy="379095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8490eff8cd449c"/>
          <a:stretch xmlns:a="http://schemas.openxmlformats.org/drawingml/2006/main"/>
        </p:blipFill>
        <p:spPr>
          <a:xfrm xmlns:a="http://schemas.openxmlformats.org/drawingml/2006/main">
            <a:off x="6660621" y="2038350"/>
            <a:ext cx="4633383" cy="3790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CF6F1A-0B29-42F1-BAC9-71744999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905500"/>
            <a:ext cx="53244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地形、水体、城市和土地用途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BEB46-A708-4E42-AB13-448922A0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905500"/>
            <a:ext cx="54197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源荷节点、线路走廊与电气拓扑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07E237-54A1-46AE-B289-D14A7824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6219825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rPr>
              <a:t>64 km基准：8个城市、约120万人；128 km尺度化：约24个城市、约406万人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642E8-07E3-4114-9E11-EEE91374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6486525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代码仓库：https://github.com/Hevensh/SimGenr（私人仓库）</a:t>
            </a:r>
          </a:p>
        </p:txBody>
      </p:sp>
    </p:spTree>
    <p:extLst>
      <p:ext uri="{BB962C8B-B14F-4D97-AF65-F5344CB8AC3E}">
        <p14:creationId xmlns:p14="http://schemas.microsoft.com/office/powerpoint/2010/main" val="13990492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6C23D1-BE87-49BE-9E4E-D14C5176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解析链 1/2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D485D-FC8E-4E3F-B290-6838C041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地形—水文—天气必须形成可解释的外部物理驱动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BC59D-89CD-403C-ADEC-F6268FEE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每一层输出中间变量，并以真实DEM、河网和再分析气象的统计量进行校准。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BD964-641B-4BEE-83C7-19B2E7C1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e774958224e7b"/>
          <a:stretch xmlns:a="http://schemas.openxmlformats.org/drawingml/2006/main"/>
        </p:blipFill>
        <p:spPr>
          <a:xfrm xmlns:a="http://schemas.openxmlformats.org/drawingml/2006/main">
            <a:off x="688181" y="2038350"/>
            <a:ext cx="4738688" cy="379095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66907861f4fb6"/>
          <a:stretch xmlns:a="http://schemas.openxmlformats.org/drawingml/2006/main"/>
        </p:blipFill>
        <p:spPr>
          <a:xfrm xmlns:a="http://schemas.openxmlformats.org/drawingml/2006/main">
            <a:off x="6029325" y="2187087"/>
            <a:ext cx="5676900" cy="349347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28879-A25E-4972-9F00-E27D35DE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895975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Priority-Flood + D8/D∞ + 汇流累积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9ABE7F-3532-4232-AAB5-F2AD118F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95975"/>
            <a:ext cx="567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平流—扩散—源汇 + 高程与水体修正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80E95-89FB-4056-93BE-7590B3F3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296025"/>
            <a:ext cx="805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验收：尺度谱 · 河网连通 · 排水密度 · 时空自相关 · 云雨条件概率</a:t>
            </a:r>
          </a:p>
        </p:txBody>
      </p:sp>
    </p:spTree>
    <p:extLst>
      <p:ext uri="{BB962C8B-B14F-4D97-AF65-F5344CB8AC3E}">
        <p14:creationId xmlns:p14="http://schemas.microsoft.com/office/powerpoint/2010/main" val="9526186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15B34-8323-4FF7-B525-76AA881E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解析链 2/2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BA5DD-C48E-4356-934C-64A0D575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城市—源荷—电网必须形成可审计的规划与运行模型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0FF96-FFCD-4DFF-BA14-15653C35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城市和资源决定注入位置，图优化决定网络，AC/DC潮流与多时段优化产生运行标签。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4EECB9-A7AE-4F74-8EE2-46160B8D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2a89dd9cd94f2a"/>
          <a:stretch xmlns:a="http://schemas.openxmlformats.org/drawingml/2006/main"/>
        </p:blipFill>
        <p:spPr>
          <a:xfrm xmlns:a="http://schemas.openxmlformats.org/drawingml/2006/main">
            <a:off x="943504" y="2047875"/>
            <a:ext cx="4447117" cy="363855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3b323b0814239"/>
          <a:stretch xmlns:a="http://schemas.openxmlformats.org/drawingml/2006/main"/>
        </p:blipFill>
        <p:spPr>
          <a:xfrm xmlns:a="http://schemas.openxmlformats.org/drawingml/2006/main">
            <a:off x="6257925" y="2993898"/>
            <a:ext cx="5457825" cy="174650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99804-1E1C-444D-A316-88C3F4FC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81675"/>
            <a:ext cx="54197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适宜度、覆盖、距离与资源曲线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6C3F83-DA39-458C-B0DA-63AF83FE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781675"/>
            <a:ext cx="5457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负荷、风光、火电容量与储能需求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6E0A49-73EA-4697-8D75-FC682159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62865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rPr>
              <a:t>AC潮流是论文主标签；DC潮流是速度基线与误差对照</a:t>
            </a:r>
          </a:p>
        </p:txBody>
      </p:sp>
    </p:spTree>
    <p:extLst>
      <p:ext uri="{BB962C8B-B14F-4D97-AF65-F5344CB8AC3E}">
        <p14:creationId xmlns:p14="http://schemas.microsoft.com/office/powerpoint/2010/main" val="13976003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8EE6D6-4C46-4812-89F2-14F1B66E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系统组成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D0983-2CFB-435B-A5F4-C17F4794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环境场、活动场与电气网络共同构成多模态潮流场景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036648-5ED0-4834-94AB-BC73AD5D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各层保留显式中间变量，使数据规律、规划结果和潮流状态可以分别观察与校准。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8DF998-6E45-4D84-89B6-2FC93C91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C554E-293E-429A-8E27-45FAB4E4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076450"/>
            <a:ext cx="3476625" cy="3095625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EEF5EA"/>
          </a:solidFill>
          <a:ln xmlns:a="http://schemas.openxmlformats.org/drawingml/2006/main" w="11430">
            <a:solidFill>
              <a:srgbClr val="4C956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1F38FF-5A81-45A7-A7DD-16F91AB6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076450"/>
            <a:ext cx="3476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56C"/>
          </a:solidFill>
          <a:ln xmlns:a="http://schemas.openxmlformats.org/drawingml/2006/main" w="0">
            <a:solidFill>
              <a:srgbClr val="4C956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38F77-FBEC-4EA3-9DB1-794EF20E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31337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rPr>
              <a:t>环境与天气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265128-D521-4E97-A5A8-D9B51582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19375"/>
            <a:ext cx="3133725" cy="2409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地形 / 水文 / 风险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基础气候 / 小时天气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云雨 / 温湿 / 辐照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形成外部驱动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BB75D7-8081-4A0D-B84D-C9D221E7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76450"/>
            <a:ext cx="3476625" cy="3095625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EAF3F9"/>
          </a:solidFill>
          <a:ln xmlns:a="http://schemas.openxmlformats.org/drawingml/2006/main" w="11430">
            <a:solidFill>
              <a:srgbClr val="2E74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98252-C9C7-4640-BD02-134E4FFD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76450"/>
            <a:ext cx="3476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B7C326-6C4D-4BC0-BBA9-FB6F9FEA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38375"/>
            <a:ext cx="31337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城市与源荷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F9AFDD-33DB-4F49-BBB0-35B52C05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19375"/>
            <a:ext cx="3133725" cy="2409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城市 / 土地利用 / 人口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负荷 / 风电 / 光伏 / 火电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资源与需求时间序列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形成节点注入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498B06-2F49-4001-B8BF-BCEB1799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076450"/>
            <a:ext cx="3476625" cy="3095625"/>
          </a:xfrm>
          <a:prstGeom xmlns:a="http://schemas.openxmlformats.org/drawingml/2006/main" prst="roundRect">
            <a:avLst>
              <a:gd name="adj" fmla="val 2462"/>
            </a:avLst>
          </a:prstGeom>
          <a:solidFill xmlns:a="http://schemas.openxmlformats.org/drawingml/2006/main">
            <a:srgbClr val="FBF2E2"/>
          </a:solidFill>
          <a:ln xmlns:a="http://schemas.openxmlformats.org/drawingml/2006/main" w="11430">
            <a:solidFill>
              <a:srgbClr val="D99A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9BB647-8A89-4C52-A0FE-AFC93A4A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076450"/>
            <a:ext cx="3476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5"/>
          </a:solidFill>
          <a:ln xmlns:a="http://schemas.openxmlformats.org/drawingml/2006/main" w="0">
            <a:solidFill>
              <a:srgbClr val="D99A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C7495-E4E6-4FE1-B646-F4531723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38375"/>
            <a:ext cx="31337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rPr>
              <a:t>电网与运行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BB3BB5-B6B6-4949-8F8D-C95DEA10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3133725" cy="2409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母线 / 线路 / 电气参数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AC/DC潮流 / 网络安全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储能需求 / 多时段调度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形成物理状态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196A3E-39B1-4BCB-892A-98FBB49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791200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rPr>
              <a:t>统一坐标、统一时间轴与统一节点/线路标识连接全部模态</a:t>
            </a:r>
          </a:p>
        </p:txBody>
      </p:sp>
    </p:spTree>
    <p:extLst>
      <p:ext uri="{BB962C8B-B14F-4D97-AF65-F5344CB8AC3E}">
        <p14:creationId xmlns:p14="http://schemas.microsoft.com/office/powerpoint/2010/main" val="15122589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F03FE7-261E-4323-B6FE-23E0BBC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期望能力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8138F8-831F-42E4-9946-39FD227D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从可视化生成程序升级为可解释、可校准的潮流Benchmark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A939B6-2FD5-45EF-A390-2EF9EDA3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目标状态由场景可信度、标签可信度、可控实验能力和统一评测共同定义。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69831-CFE3-47DF-868E-4DB7873A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825BC6-015C-4434-8FE6-5C91AAF5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81225"/>
            <a:ext cx="1714500" cy="31051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E74B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643E9E-C545-49B1-B6F6-A7B2FD56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81225"/>
            <a:ext cx="171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CA5AC-9C7E-4B59-8463-7F4F4062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40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053806-500B-4FB5-91DB-F0C13077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962275"/>
            <a:ext cx="1466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可解释生成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4D0C43-C065-4190-AD63-BB5E7E0B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724275"/>
            <a:ext cx="13906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明确方程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参数与单位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边界条件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EEB57B-D59C-456F-B78E-AF44D5C0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619500"/>
            <a:ext cx="20002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259F4-6A47-43BD-BF10-9172B1A0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181225"/>
            <a:ext cx="1714500" cy="31051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70F338-3404-48C8-A07A-AB009FCA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181225"/>
            <a:ext cx="171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0E5AD-D45F-40B4-9294-F1FAD047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419350"/>
            <a:ext cx="140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837833-181B-44D1-9B6A-FAE5774B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62275"/>
            <a:ext cx="1466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真实校准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EDCE15-0427-49FA-9F5C-29BBC5EA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724275"/>
            <a:ext cx="13906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公开数据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分布与相关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典型范围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58EC7-40EE-4F84-B1AD-1E08D51B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619500"/>
            <a:ext cx="20002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D6459-B6E8-4701-8FAA-852B063F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81225"/>
            <a:ext cx="1714500" cy="31051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C956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4F83A5-622C-4FD3-BA2C-B56BBC93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81225"/>
            <a:ext cx="171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56C"/>
          </a:solidFill>
          <a:ln xmlns:a="http://schemas.openxmlformats.org/drawingml/2006/main" w="0">
            <a:solidFill>
              <a:srgbClr val="4C956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78CE96-7EB7-49B4-BFFE-C8A7ABBE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19350"/>
            <a:ext cx="140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40FCF-0294-433E-AD12-E17EBA7C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962275"/>
            <a:ext cx="1466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跨尺度世界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490D7C-444C-4043-95C6-4FE5C327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724275"/>
            <a:ext cx="13906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新增结构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统计稳定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局部连续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78B52A-88D5-451D-83C9-8106E7D3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19500"/>
            <a:ext cx="20002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F86CA8-F3F5-4C26-8A72-E2D0992E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81225"/>
            <a:ext cx="1714500" cy="31051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A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E3939A-77C7-44DC-BA3C-767D725B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81225"/>
            <a:ext cx="171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5"/>
          </a:solidFill>
          <a:ln xmlns:a="http://schemas.openxmlformats.org/drawingml/2006/main" w="0">
            <a:solidFill>
              <a:srgbClr val="D99A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DD9A81-7CFC-4B85-BF92-B4A18D0C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140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0303C3-C8DD-4DBB-A21A-A6B8FA26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62275"/>
            <a:ext cx="1466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物理标签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9D7C06-C3E4-4636-8512-90A8DE1B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24275"/>
            <a:ext cx="13906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AC/DC潮流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约束残差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可行标记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0D863F-7102-466A-AC0E-4288D774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619500"/>
            <a:ext cx="20002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881818-C41B-4E01-87EB-625C77A0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81225"/>
            <a:ext cx="1714500" cy="31051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5C5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EA2F49-0C5B-4F1E-9666-4655FFBB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81225"/>
            <a:ext cx="171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C5C"/>
          </a:solidFill>
          <a:ln xmlns:a="http://schemas.openxmlformats.org/drawingml/2006/main" w="0">
            <a:solidFill>
              <a:srgbClr val="C85C5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6EBFF2-AA54-4925-90AF-744D12D1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140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FAA765-C434-4964-838E-04119D00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962275"/>
            <a:ext cx="1466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可控场景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34A9D5-2E17-4879-9567-F9956B12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724275"/>
            <a:ext cx="13906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气候/城市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能源/故障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模态缺失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FA1CD2-AB9E-4F69-9227-76EDC7C2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19500"/>
            <a:ext cx="200025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4DA"/>
          </a:solidFill>
          <a:ln xmlns:a="http://schemas.openxmlformats.org/drawingml/2006/main" w="0">
            <a:solidFill>
              <a:srgbClr val="CBD4D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5C297E-410C-4D2D-B2D1-EF57D953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2181225"/>
            <a:ext cx="1714500" cy="31051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E74B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D8DBA4-C3A4-4A69-BF3C-8DFCBFEB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2181225"/>
            <a:ext cx="171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19DE2C-DC04-4E46-8FD6-A58C6AE3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419350"/>
            <a:ext cx="1409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100DA8-C04E-487F-A5E8-5715A914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962275"/>
            <a:ext cx="1466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统一评测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9EE403-C329-4ADE-A667-BB0E9024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724275"/>
            <a:ext cx="13906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IID/OOD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节点/线路</a:t>
            </a:r>
          </a:p>
          <a:p xmlns:a="http://schemas.openxmlformats.org/drawingml/2006/main">
            <a:pPr algn="ctr">
              <a:def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精度与效率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449D5B-3C4E-4EC2-968A-EA65D4D1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848350"/>
            <a:ext cx="9010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总体路径：真实数据校准 → 解析场景生成 → AC求解器标签 → 跨场景Benchmark</a:t>
            </a:r>
          </a:p>
        </p:txBody>
      </p:sp>
    </p:spTree>
    <p:extLst>
      <p:ext uri="{BB962C8B-B14F-4D97-AF65-F5344CB8AC3E}">
        <p14:creationId xmlns:p14="http://schemas.microsoft.com/office/powerpoint/2010/main" val="11194500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AD537-89F4-47EE-8ABD-C56121F6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关键研究问题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C7D6AB-00EB-40D3-B6F2-0EEFE763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理论调研围绕数据、自然规律与电气物理三条线展开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70344-4281-4C28-8EE7-8391DB3B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每个问题最终对应生成规则、可观测中间量和定量验证方式。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C97371-0700-4CB1-84B0-922A2F72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BF8083-A47F-49EA-A53A-9CC2F391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085975"/>
            <a:ext cx="3276600" cy="2962275"/>
          </a:xfrm>
          <a:prstGeom xmlns:a="http://schemas.openxmlformats.org/drawingml/2006/main" prst="roundRect">
            <a:avLst>
              <a:gd name="adj" fmla="val 2572"/>
            </a:avLst>
          </a:prstGeom>
          <a:solidFill xmlns:a="http://schemas.openxmlformats.org/drawingml/2006/main">
            <a:srgbClr val="EEF5EA"/>
          </a:solidFill>
          <a:ln xmlns:a="http://schemas.openxmlformats.org/drawingml/2006/main" w="11430">
            <a:solidFill>
              <a:srgbClr val="4C956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55C8EE-C23D-4E4F-9FCF-B10E6358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085975"/>
            <a:ext cx="3276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56C"/>
          </a:solidFill>
          <a:ln xmlns:a="http://schemas.openxmlformats.org/drawingml/2006/main" w="0">
            <a:solidFill>
              <a:srgbClr val="4C956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D1B3F3-BFA8-434E-B9BA-398201E4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247900"/>
            <a:ext cx="2933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rPr>
              <a:t>公开数据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A7F00-007E-4654-BB35-230EE704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28900"/>
            <a:ext cx="2933700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电网算例与潮流标签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气象与风光资源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负荷与运行时序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土地与人口活动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4B1657-FCB6-43AD-B9A0-F4308E11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85975"/>
            <a:ext cx="3276600" cy="2962275"/>
          </a:xfrm>
          <a:prstGeom xmlns:a="http://schemas.openxmlformats.org/drawingml/2006/main" prst="roundRect">
            <a:avLst>
              <a:gd name="adj" fmla="val 2572"/>
            </a:avLst>
          </a:prstGeom>
          <a:solidFill xmlns:a="http://schemas.openxmlformats.org/drawingml/2006/main">
            <a:srgbClr val="EAF3F9"/>
          </a:solidFill>
          <a:ln xmlns:a="http://schemas.openxmlformats.org/drawingml/2006/main" w="11430">
            <a:solidFill>
              <a:srgbClr val="2E74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54EE6-785E-4EA2-B4EA-1DC8BB2F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85975"/>
            <a:ext cx="3276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7EA8C-1509-4E90-95EA-3BDEEB7D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933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解析规律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5521C5-F117-440E-964B-6A4E1E3F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28900"/>
            <a:ext cx="2933700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地形尺度谱与侵蚀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河网与汇流规律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云雨平流与地形作用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城市、土地与资源分布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12E6A-2F09-4834-876F-DC095090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85975"/>
            <a:ext cx="3276600" cy="2962275"/>
          </a:xfrm>
          <a:prstGeom xmlns:a="http://schemas.openxmlformats.org/drawingml/2006/main" prst="roundRect">
            <a:avLst>
              <a:gd name="adj" fmla="val 2572"/>
            </a:avLst>
          </a:prstGeom>
          <a:solidFill xmlns:a="http://schemas.openxmlformats.org/drawingml/2006/main">
            <a:srgbClr val="FBF2E2"/>
          </a:solidFill>
          <a:ln xmlns:a="http://schemas.openxmlformats.org/drawingml/2006/main" w="11430">
            <a:solidFill>
              <a:srgbClr val="D99A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BB247-C17B-4DED-A15F-E6CC19C4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85975"/>
            <a:ext cx="3276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5"/>
          </a:solidFill>
          <a:ln xmlns:a="http://schemas.openxmlformats.org/drawingml/2006/main" w="0">
            <a:solidFill>
              <a:srgbClr val="D99A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D446E8-E197-4A2E-B915-B7F6D7E0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47900"/>
            <a:ext cx="2933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rPr>
              <a:t>电气物理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A12E4-75B8-42D3-9FB3-325C9457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28900"/>
            <a:ext cx="2933700" cy="2276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节点与线路参数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拓扑规划与可靠性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AC/DC潮流边界</a:t>
            </a:r>
          </a:p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储能和多时段调度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7702D4-685E-43AD-9F02-E4227E9D4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743575"/>
            <a:ext cx="9810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rPr>
              <a:t>关注点：规律是否可解释、参数是否可校准、结果是否可由真实数据或标准算例核验</a:t>
            </a:r>
          </a:p>
        </p:txBody>
      </p:sp>
    </p:spTree>
    <p:extLst>
      <p:ext uri="{BB962C8B-B14F-4D97-AF65-F5344CB8AC3E}">
        <p14:creationId xmlns:p14="http://schemas.microsoft.com/office/powerpoint/2010/main" val="21359520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B1CB94-284C-42E1-84F9-C3C82231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8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预期形态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C54782-180E-4F3D-89A5-98F1D785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108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从生成程序升级为可解释、可校准、可复现的潮流Benchmark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2F9B5-A07F-4EC6-9BA2-58292C8C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76325"/>
            <a:ext cx="1108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0">
                <a:solidFill>
                  <a:srgbClr val="5C6973"/>
                </a:solidFill>
                <a:latin typeface="Microsoft YaHei"/>
                <a:ea typeface="Microsoft YaHei"/>
                <a:cs typeface="Microsoft YaHei"/>
              </a:rPr>
              <a:t>完整系统由解析生成器、物理标签、可控场景和统一评测协议共同构成。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1F17C-A245-47C0-A9AA-E2EFECFC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9725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E7A654-D5D4-49C1-9D1C-C97D63C4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219325"/>
            <a:ext cx="257175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AF3F9"/>
          </a:solidFill>
          <a:ln xmlns:a="http://schemas.openxmlformats.org/drawingml/2006/main" w="11430">
            <a:solidFill>
              <a:srgbClr val="2E74B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DF33E-1599-412C-BE16-584C51E7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219325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1A1A0-C916-48C2-90FB-C9686A71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E74B5"/>
                </a:solidFill>
                <a:latin typeface="Microsoft YaHei"/>
                <a:ea typeface="Microsoft YaHei"/>
                <a:cs typeface="Microsoft YaHei"/>
              </a:rPr>
              <a:t>解析生成器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B3C34-28FE-42F1-9AD0-4B2C2D04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62250"/>
            <a:ext cx="22288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各阶段有方程、单位、参数和边界条件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8A8C6-C8D9-441B-9731-B1B5D490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219325"/>
            <a:ext cx="257175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40D39-2936-4F46-AEAE-E288806B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219325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AB12AC-0204-4917-8140-0FC08008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38125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A9D8F"/>
                </a:solidFill>
                <a:latin typeface="Microsoft YaHei"/>
                <a:ea typeface="Microsoft YaHei"/>
                <a:cs typeface="Microsoft YaHei"/>
              </a:rPr>
              <a:t>物理标签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7C6E2-0976-41EF-8DCA-D0894AF0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762250"/>
            <a:ext cx="22288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AC/DC潮流、调度、储能与安全状态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452346-72B0-4307-96EC-CCED6F15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219325"/>
            <a:ext cx="257175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EF5EA"/>
          </a:solidFill>
          <a:ln xmlns:a="http://schemas.openxmlformats.org/drawingml/2006/main" w="11430">
            <a:solidFill>
              <a:srgbClr val="4C956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CB3631-C11E-4F32-A9F3-3FD60380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219325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56C"/>
          </a:solidFill>
          <a:ln xmlns:a="http://schemas.openxmlformats.org/drawingml/2006/main" w="0">
            <a:solidFill>
              <a:srgbClr val="4C956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C903A7-B3B5-49D3-AEB6-D825F395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8125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C956C"/>
                </a:solidFill>
                <a:latin typeface="Microsoft YaHei"/>
                <a:ea typeface="Microsoft YaHei"/>
                <a:cs typeface="Microsoft YaHei"/>
              </a:rPr>
              <a:t>可控场景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0F5782-7840-4FF9-84A0-A5D8DA07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762250"/>
            <a:ext cx="22288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地图尺度、气候、城市、能源结构和故障可调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DA787F-A99F-4AC7-BC34-694F112F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219325"/>
            <a:ext cx="257175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FBF2E2"/>
          </a:solidFill>
          <a:ln xmlns:a="http://schemas.openxmlformats.org/drawingml/2006/main" w="11430">
            <a:solidFill>
              <a:srgbClr val="D99A3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B899D-9EFD-4C71-AFBF-70427E9F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219325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5"/>
          </a:solidFill>
          <a:ln xmlns:a="http://schemas.openxmlformats.org/drawingml/2006/main" w="0">
            <a:solidFill>
              <a:srgbClr val="D99A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746A29-FCC4-4301-9062-21CC975B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38125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99A35"/>
                </a:solidFill>
                <a:latin typeface="Microsoft YaHei"/>
                <a:ea typeface="Microsoft YaHei"/>
                <a:cs typeface="Microsoft YaHei"/>
              </a:rPr>
              <a:t>标准协议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036F87-50C4-4053-891B-DDF00308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762250"/>
            <a:ext cx="22288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IID/OOD/缺失模态/N-1及统一评估器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02C63A-D851-4E24-97CC-EA8FDBE4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857750"/>
            <a:ext cx="90106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11430">
            <a:solidFill>
              <a:srgbClr val="CBD4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250504-E6EB-45C4-BE93-FC3189EB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048250"/>
            <a:ext cx="171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5C5C"/>
                </a:solidFill>
                <a:latin typeface="Microsoft YaHei"/>
                <a:ea typeface="Microsoft YaHei"/>
                <a:cs typeface="Microsoft YaHei"/>
              </a:rPr>
              <a:t>论文主张边界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117131-78DF-4FAB-95D3-5F6035E9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010150"/>
            <a:ext cx="65817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13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13" b="1">
                <a:solidFill>
                  <a:srgbClr val="172027"/>
                </a:solidFill>
                <a:latin typeface="Microsoft YaHei"/>
                <a:ea typeface="Microsoft YaHei"/>
                <a:cs typeface="Microsoft YaHei"/>
              </a:rPr>
              <a:t>不声称合成世界等同现实；主张其能够系统控制变量、产生物理可验证标签，并测量模型跨世界泛化。</a:t>
            </a:r>
          </a:p>
        </p:txBody>
      </p:sp>
    </p:spTree>
    <p:extLst>
      <p:ext uri="{BB962C8B-B14F-4D97-AF65-F5344CB8AC3E}">
        <p14:creationId xmlns:p14="http://schemas.microsoft.com/office/powerpoint/2010/main" val="364279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2026-08-13T11:09:43.3510000Z</dcterms:created>
  <dcterms:modified xsi:type="dcterms:W3CDTF">2026-08-13T11:09:43.3510000Z</dcterms:modified>
</coreProperties>
</file>