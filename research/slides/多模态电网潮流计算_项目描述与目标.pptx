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b48d97e884521" /><Relationship Type="http://schemas.openxmlformats.org/officeDocument/2006/relationships/extended-properties" Target="/docProps/app.xml" Id="R8ddb0c3b166448e0" /><Relationship Type="http://schemas.openxmlformats.org/officeDocument/2006/relationships/officeDocument" Target="/ppt/presentation.xml" Id="Rf6a49619064f4c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f693a8afb94fed"/>
  </p:sldMasterIdLst>
  <p:notesMasterIdLst>
    <p:notesMasterId xmlns:r="http://schemas.openxmlformats.org/officeDocument/2006/relationships" r:id="R350f662cb56b4df5"/>
  </p:notesMasterIdLst>
  <p:sldIdLst>
    <p:sldId xmlns:r="http://schemas.openxmlformats.org/officeDocument/2006/relationships" id="256" r:id="R756f60fe360246d1"/>
    <p:sldId xmlns:r="http://schemas.openxmlformats.org/officeDocument/2006/relationships" id="257" r:id="R2a82651c5ed64e6b"/>
    <p:sldId xmlns:r="http://schemas.openxmlformats.org/officeDocument/2006/relationships" id="258" r:id="R346822ab65a943bb"/>
    <p:sldId xmlns:r="http://schemas.openxmlformats.org/officeDocument/2006/relationships" id="259" r:id="Rb7c5e67000794136"/>
    <p:sldId xmlns:r="http://schemas.openxmlformats.org/officeDocument/2006/relationships" id="260" r:id="R3b6ca9fa88944af8"/>
    <p:sldId xmlns:r="http://schemas.openxmlformats.org/officeDocument/2006/relationships" id="261" r:id="R26af3d055dc94db1"/>
    <p:sldId xmlns:r="http://schemas.openxmlformats.org/officeDocument/2006/relationships" id="262" r:id="R6e130c346c154ff7"/>
    <p:sldId xmlns:r="http://schemas.openxmlformats.org/officeDocument/2006/relationships" id="263" r:id="R8659941cc5104c0b"/>
    <p:sldId xmlns:r="http://schemas.openxmlformats.org/officeDocument/2006/relationships" id="264" r:id="Rd3d8a47d16534e7b"/>
    <p:sldId xmlns:r="http://schemas.openxmlformats.org/officeDocument/2006/relationships" id="265" r:id="R1871df4bf32344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1a7fe9766f48da" /><Relationship Type="http://schemas.openxmlformats.org/officeDocument/2006/relationships/slideMaster" Target="/ppt/slideMasters/slideMaster1.xml" Id="R22f693a8afb94fed" /><Relationship Type="http://schemas.openxmlformats.org/officeDocument/2006/relationships/notesMaster" Target="/ppt/notesMasters/notesMaster1.xml" Id="R350f662cb56b4df5" /><Relationship Type="http://schemas.openxmlformats.org/officeDocument/2006/relationships/presProps" Target="/ppt/presProps.xml" Id="R51b6f2c297a84f4b" /><Relationship Type="http://schemas.openxmlformats.org/officeDocument/2006/relationships/tableStyles" Target="/ppt/tableStyles.xml" Id="R7b403dcdf2874016" /><Relationship Type="http://schemas.openxmlformats.org/officeDocument/2006/relationships/slide" Target="/ppt/slides/slide1.xml" Id="R756f60fe360246d1" /><Relationship Type="http://schemas.openxmlformats.org/officeDocument/2006/relationships/slide" Target="/ppt/slides/slide2.xml" Id="R2a82651c5ed64e6b" /><Relationship Type="http://schemas.openxmlformats.org/officeDocument/2006/relationships/slide" Target="/ppt/slides/slide3.xml" Id="R346822ab65a943bb" /><Relationship Type="http://schemas.openxmlformats.org/officeDocument/2006/relationships/slide" Target="/ppt/slides/slide4.xml" Id="Rb7c5e67000794136" /><Relationship Type="http://schemas.openxmlformats.org/officeDocument/2006/relationships/slide" Target="/ppt/slides/slide5.xml" Id="R3b6ca9fa88944af8" /><Relationship Type="http://schemas.openxmlformats.org/officeDocument/2006/relationships/slide" Target="/ppt/slides/slide6.xml" Id="R26af3d055dc94db1" /><Relationship Type="http://schemas.openxmlformats.org/officeDocument/2006/relationships/slide" Target="/ppt/slides/slide7.xml" Id="R6e130c346c154ff7" /><Relationship Type="http://schemas.openxmlformats.org/officeDocument/2006/relationships/slide" Target="/ppt/slides/slide8.xml" Id="R8659941cc5104c0b" /><Relationship Type="http://schemas.openxmlformats.org/officeDocument/2006/relationships/slide" Target="/ppt/slides/slide9.xml" Id="Rd3d8a47d16534e7b" /><Relationship Type="http://schemas.openxmlformats.org/officeDocument/2006/relationships/slide" Target="/ppt/slides/slide10.xml" Id="R1871df4bf32344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37fe179cb9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eef607db4b4509" /><Relationship Type="http://schemas.openxmlformats.org/officeDocument/2006/relationships/notesMaster" Target="/ppt/notesMasters/notesMaster1.xml" Id="Rcb6ad2bb42cf48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13e6d0bbcf4ba2" /><Relationship Type="http://schemas.openxmlformats.org/officeDocument/2006/relationships/notesMaster" Target="/ppt/notesMasters/notesMaster1.xml" Id="R2aea632ae315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cc4d157ce4c5e" /><Relationship Type="http://schemas.openxmlformats.org/officeDocument/2006/relationships/notesMaster" Target="/ppt/notesMasters/notesMaster1.xml" Id="Ra59e3bc4a31a46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bbfb2117d4881" /><Relationship Type="http://schemas.openxmlformats.org/officeDocument/2006/relationships/notesMaster" Target="/ppt/notesMasters/notesMaster1.xml" Id="R1734748ea0ef4e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2c4edb916454a" /><Relationship Type="http://schemas.openxmlformats.org/officeDocument/2006/relationships/notesMaster" Target="/ppt/notesMasters/notesMaster1.xml" Id="R3f4d5577243b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491dbf930345f9" /><Relationship Type="http://schemas.openxmlformats.org/officeDocument/2006/relationships/notesMaster" Target="/ppt/notesMasters/notesMaster1.xml" Id="R454dff943ec946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c01e09016c42a3" /><Relationship Type="http://schemas.openxmlformats.org/officeDocument/2006/relationships/notesMaster" Target="/ppt/notesMasters/notesMaster1.xml" Id="R1a02839a49e84c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36d74b16045f7" /><Relationship Type="http://schemas.openxmlformats.org/officeDocument/2006/relationships/notesMaster" Target="/ppt/notesMasters/notesMaster1.xml" Id="R1ecb6a760f8248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803a3baee84f17" /><Relationship Type="http://schemas.openxmlformats.org/officeDocument/2006/relationships/notesMaster" Target="/ppt/notesMasters/notesMaster1.xml" Id="R2ce2e20370834a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e6d1c25e6e4bee" /><Relationship Type="http://schemas.openxmlformats.org/officeDocument/2006/relationships/notesMaster" Target="/ppt/notesMasters/notesMaster1.xml" Id="R11e3fde4648e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主目标是多模态电网潮流计算，世界生成器负责提供可控且可验证的场景。</a:t>
            </a:r>
          </a:p>
          <a:p xmlns:a="http://schemas.openxmlformats.org/drawingml/2006/main">
            <a:r>
              <a:t>项目关注现有基础、核心目标和可逐步扩展的研究空间。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D:/MyWork/孔老师的电网项目/PF-Delta/SimGenr/outputs/city_scale_aware_preview/small_debug_seed42/figures/stage_10_grid_topology/grid_topology_overview.png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公开数据并非没有，而是各自解决不同问题。</a:t>
            </a:r>
          </a:p>
          <a:p xmlns:a="http://schemas.openxmlformats.org/drawingml/2006/main">
            <a:r>
              <a:t>我们的差异化价值是把地理、天气、城市、源荷和电网放在统一场景里，并由成熟求解器产生潮流标签。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环境和天气不是直接替代电气量，而是构造源荷与设备运行条件。</a:t>
            </a:r>
          </a:p>
          <a:p xmlns:a="http://schemas.openxmlformats.org/drawingml/2006/main">
            <a:r>
              <a:t>论文主标签应由AC求解器产生；现有DC潮流保留为快速基线和近似误差对照。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生成器已经具备多尺度地形、城市、源荷、电网和运行模块。</a:t>
            </a:r>
          </a:p>
          <a:p xmlns:a="http://schemas.openxmlformats.org/drawingml/2006/main">
            <a:r>
              <a:t>下一步要把每个经验规则替换或约束为有来源、有单位、可校准的解析模型。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D:/MyWork/孔老师的电网项目/PF-Delta/SimGenr/outputs/city_scale_aware_preview/small_debug_seed42/figures/stage_07_land_use_load_zones/built_environment_overlay.png</a:t>
            </a:r>
          </a:p>
          <a:p xmlns:a="http://schemas.openxmlformats.org/drawingml/2006/main">
            <a:r>
              <a:t>D:/MyWork/孔老师的电网项目/PF-Delta/SimGenr/outputs/city_scale_aware_preview/small_debug_seed42/figures/stage_10_grid_topology/grid_topology_overview.png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地形、水文和天气构成外部环境链。</a:t>
            </a:r>
          </a:p>
          <a:p xmlns:a="http://schemas.openxmlformats.org/drawingml/2006/main">
            <a:r>
              <a:t>水文可比较D8与D∞；天气可形成不依赖神经网络的平流扩散与凝结基线。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D:/MyWork/孔老师的电网项目/PF-Delta/SimGenr/outputs/city_scale_aware_preview/small_debug_seed42/figures/stage_02_hydrology/hydrology_overview.png</a:t>
            </a:r>
          </a:p>
          <a:p xmlns:a="http://schemas.openxmlformats.org/drawingml/2006/main">
            <a:r>
              <a:t>D:/MyWork/孔老师的电网项目/PF-Delta/SimGenr/outputs/city_scale_aware_preview/small_debug_seed42/figures/stage_04_climate_background/climate_overview.png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电网物理链包含参数、拓扑、AC/DC潮流、调度、储能和N-1。</a:t>
            </a:r>
          </a:p>
          <a:p xmlns:a="http://schemas.openxmlformats.org/drawingml/2006/main">
            <a:r>
              <a:t>标准算例可用于确认求解接口和程序化网络标签的一致性。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D:/MyWork/孔老师的电网项目/PF-Delta/SimGenr/outputs/city_scale_aware_preview/small_debug_seed42/figures/stage_08_energy_load_candidates/energy_candidate_overview.png</a:t>
            </a:r>
          </a:p>
          <a:p xmlns:a="http://schemas.openxmlformats.org/drawingml/2006/main">
            <a:r>
              <a:t>D:/MyWork/孔老师的电网项目/PF-Delta/SimGenr/outputs/city_scale_aware_preview/small_debug_seed42/figures/stage_11_grid_operation/source_load_timeseries.png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系统由环境、城市源荷和电网运行三部分组成。</a:t>
            </a:r>
          </a:p>
          <a:p xmlns:a="http://schemas.openxmlformats.org/drawingml/2006/main">
            <a:r>
              <a:t>统一的数据契约使每个解析模块可以单独替换和验证。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期望能力不是按时间排列，而是描述Benchmark逐步成熟的方向。</a:t>
            </a:r>
          </a:p>
          <a:p xmlns:a="http://schemas.openxmlformats.org/drawingml/2006/main">
            <a:r>
              <a:t>解析生成和物理求解分别解决场景可控性与标签可信度。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分阶段调研计划按生成器顺序拆解这些问题。</a:t>
            </a:r>
          </a:p>
          <a:p xmlns:a="http://schemas.openxmlformats.org/drawingml/2006/main">
            <a:r>
              <a:t>调研重点是形成明确规律和验证依据，而不是只做神经网络拟合。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Benchmark论文的核心不是生成数量，而是评价问题是否清楚、标签是否可信、协议是否能区分模型能力。</a:t>
            </a:r>
          </a:p>
          <a:p xmlns:a="http://schemas.openxmlformats.org/drawingml/2006/main">
            <a:r>
              <a:t>真实数据校准和适用边界必须在文档和论文中明确。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5628ab00740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6bc22e48347b2" /><Relationship Type="http://schemas.openxmlformats.org/officeDocument/2006/relationships/slideLayout" Target="/ppt/slideLayouts/slideLayout1.xml" Id="Rd7f57f302ae045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57f302ae045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363d09e9c46bb" /><Relationship Type="http://schemas.openxmlformats.org/officeDocument/2006/relationships/image" Target="/ppt/media/image.png" Id="R80a3d256efba469e" /><Relationship Type="http://schemas.openxmlformats.org/officeDocument/2006/relationships/notesSlide" Target="/ppt/notesSlides/notesSlide1.xml" Id="Rb1bb33259f484e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6960988d346fa" /><Relationship Type="http://schemas.openxmlformats.org/officeDocument/2006/relationships/notesSlide" Target="/ppt/notesSlides/notesSlide2.xml" Id="Rc25fe9e85baf47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7e813b0214323" /><Relationship Type="http://schemas.openxmlformats.org/officeDocument/2006/relationships/notesSlide" Target="/ppt/notesSlides/notesSlide3.xml" Id="Reae02195c69c4f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8c4ab8cbe4d5e" /><Relationship Type="http://schemas.openxmlformats.org/officeDocument/2006/relationships/image" Target="/ppt/media/image2.png" Id="R0477a8efc68f404e" /><Relationship Type="http://schemas.openxmlformats.org/officeDocument/2006/relationships/image" Target="/ppt/media/image3.png" Id="R92358c7a01ee4715" /><Relationship Type="http://schemas.openxmlformats.org/officeDocument/2006/relationships/notesSlide" Target="/ppt/notesSlides/notesSlide4.xml" Id="R24d75222b711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3a1cb3fe64fcb" /><Relationship Type="http://schemas.openxmlformats.org/officeDocument/2006/relationships/image" Target="/ppt/media/image4.png" Id="Rc4f47a63c35b4d36" /><Relationship Type="http://schemas.openxmlformats.org/officeDocument/2006/relationships/image" Target="/ppt/media/image5.png" Id="R4a1c4e1fab314b7b" /><Relationship Type="http://schemas.openxmlformats.org/officeDocument/2006/relationships/notesSlide" Target="/ppt/notesSlides/notesSlide5.xml" Id="Rdcb9b0bd04f841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2fc46eb864f71" /><Relationship Type="http://schemas.openxmlformats.org/officeDocument/2006/relationships/image" Target="/ppt/media/image6.png" Id="R20bdba1d8c1f46f1" /><Relationship Type="http://schemas.openxmlformats.org/officeDocument/2006/relationships/image" Target="/ppt/media/image7.png" Id="R9111af9ce39b4f96" /><Relationship Type="http://schemas.openxmlformats.org/officeDocument/2006/relationships/notesSlide" Target="/ppt/notesSlides/notesSlide6.xml" Id="Rc1fa9e4e20b0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9c41450984722" /><Relationship Type="http://schemas.openxmlformats.org/officeDocument/2006/relationships/notesSlide" Target="/ppt/notesSlides/notesSlide7.xml" Id="Rf4dae1d7853242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11ccdfff54a52" /><Relationship Type="http://schemas.openxmlformats.org/officeDocument/2006/relationships/notesSlide" Target="/ppt/notesSlides/notesSlide8.xml" Id="Rb7c07f3958de4c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b0bfd49fa4966" /><Relationship Type="http://schemas.openxmlformats.org/officeDocument/2006/relationships/notesSlide" Target="/ppt/notesSlides/notesSlide9.xml" Id="Rce1a65fdda7243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b67abe1942ee" /><Relationship Type="http://schemas.openxmlformats.org/officeDocument/2006/relationships/notesSlide" Target="/ppt/notesSlides/notesSlide10.xml" Id="R36caade27867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3d256efba469e"/>
          <a:srcRect xmlns:a="http://schemas.openxmlformats.org/drawingml/2006/main" l="15455" t="0" r="15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0"/>
            <a:ext cx="5791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BDDB7-8552-40AC-8A1D-606AED1D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0"/>
            <a:ext cx="1238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880D3-0FE3-48CF-B815-C5DEC7E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多模态电网潮流计算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811C9-8B74-48D8-B04F-B3D7EE68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项目现状与目标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ADFAE-02A2-4E26-B55D-176F05E2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解析世界建模 · 物理潮流标签 · 跨世界Benchmark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AAF36-F54F-4458-830F-E09F9AD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23D07-537C-4F7E-8030-0449575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可解释场景 · 物理标签 · 统一评测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5476-9C8B-4420-BACC-8C205E11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245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PF-Delta · 项目描述</a:t>
            </a:r>
          </a:p>
        </p:txBody>
      </p:sp>
    </p:spTree>
    <p:extLst>
      <p:ext uri="{BB962C8B-B14F-4D97-AF65-F5344CB8AC3E}">
        <p14:creationId xmlns:p14="http://schemas.microsoft.com/office/powerpoint/2010/main" val="1700892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132D6-D67B-4CB6-9D06-7AF51AD4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6972F-D7AD-422D-81FC-863DBCDA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我们缺少的不是单个数据集，而是闭合的多模态物理场景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E0F20-FC3F-43C8-B539-D2E5003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公开资源分别覆盖电网、气象、风光或负荷，很少同时满足空间、时间、拓扑和潮流标签的一致性。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BBCE-4360-48FD-A8AF-968A57E7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CDC8C-ED22-4C25-9198-84BF260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486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96457-A1A3-4119-B7C2-9FC8D1DD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8E3B2-52E0-4F99-83A8-57F76C9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电网算例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ABDB0-3620-428C-8EA0-F606C521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3143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MATPOWER / PGLib / PowerGraph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拓扑与潮流标签较强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地理天气模态较弱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FFD6F-EE36-4D69-890D-C42F9442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86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DB7D6-DCF9-4D02-8634-A148DCF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FA069-BA52-421F-A601-90046DA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955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动态时序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34153-7EEC-483A-9F56-7A9BD63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76525"/>
            <a:ext cx="3143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PSML / OPSD / Grid2Op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运行过程与扰动较强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统一地理对应有限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239D4-5991-4B6E-9990-E24024B1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486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11430">
            <a:solidFill>
              <a:srgbClr val="4C95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B99F1-2B41-40EF-A453-86E82A1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4421E-5E05-46A5-83CA-E6852C7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rPr>
              <a:t>资源环境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35B81-1C37-4F7C-8139-3D38092B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76525"/>
            <a:ext cx="3143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ERA5 / WIND / NSRDB / SDWPF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天气与风光较强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完整源荷网络缺失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8F6CE-8FEA-4E04-ADC2-2236AD2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9144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组合路线：真实数据校准 + 解析场景生成 + AC潮流求解器标签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30627-7153-455B-873F-12458C3D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81025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生成器不替代真实电网；它负责控制变量、构造OOD场景和提供完整中间状态。</a:t>
            </a:r>
          </a:p>
        </p:txBody>
      </p:sp>
    </p:spTree>
    <p:extLst>
      <p:ext uri="{BB962C8B-B14F-4D97-AF65-F5344CB8AC3E}">
        <p14:creationId xmlns:p14="http://schemas.microsoft.com/office/powerpoint/2010/main" val="1334189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8EA89-F76C-405F-B09C-5BA21DC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主目标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5FB42-0457-4F72-BDB9-8CBDDC4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输入多模态场景，输出可复核的节点与线路潮流状态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574DE-6611-4DAD-A19B-0CBA996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模型被要求逼近物理求解器，同时保持功率平衡、容量边界和跨拓扑泛化能力。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75C27-5A93-4335-B646-7127269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0F318-54C9-49B9-9707-689CBE0C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B2F59-5C45-4278-A859-5CB8B106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71D4F-1BF5-4B7F-9B85-F1AAD3A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1419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BD9D3-9A18-487F-9C7E-03F9CDF4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4192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地形 · 水文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土地 · 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5A5D8-63C6-4047-B262-14C14E4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051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4EE7D-2C4D-465F-B312-1EB3DAAF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003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0C895-29C8-4E73-B36B-A9F5123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0030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5086F-2665-49A6-BC4C-6AA84A7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62225"/>
            <a:ext cx="1419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天气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01B2F-D073-4B51-A9D3-FE52264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43225"/>
            <a:ext cx="14192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风 · 云雨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温湿 · 辐照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BC4FF-15FD-4383-8272-558C1026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E3DF1-B6DD-4732-8A3B-2E216CB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003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11430">
            <a:solidFill>
              <a:srgbClr val="4C95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729AC-A9FB-4390-BC29-46E70A05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0030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62B6C-9B3B-4E79-ACF7-62E793EB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62225"/>
            <a:ext cx="1419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rPr>
              <a:t>源荷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CC54-1359-44F4-963C-FE525C07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43225"/>
            <a:ext cx="14192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城市负荷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风光火储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8C964-CBFB-4A57-894F-53D4E70F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051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B9DDB-4DCF-4E38-B12D-5592F559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003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F2E2"/>
          </a:solidFill>
          <a:ln xmlns:a="http://schemas.openxmlformats.org/drawingml/2006/main" w="11430">
            <a:solidFill>
              <a:srgbClr val="D99A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3FC43-2F5A-4F86-A2B7-0385D19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0030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solidFill>
              <a:srgbClr val="D99A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9A739-AF61-4BA0-BCA9-335F259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62225"/>
            <a:ext cx="1419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rPr>
              <a:t>电网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557BD-ED17-4295-B731-6743D7E3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43225"/>
            <a:ext cx="14192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节点 · 线路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R/X/B · 容量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6B5C3-74C5-4C66-8B23-7821646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894DA-CFD6-41C1-AC25-E35FA1CA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CEC"/>
          </a:solidFill>
          <a:ln xmlns:a="http://schemas.openxmlformats.org/drawingml/2006/main" w="11430">
            <a:solidFill>
              <a:srgbClr val="C85C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52E38-0219-41D3-9D3E-4D55254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5C"/>
          </a:solidFill>
          <a:ln xmlns:a="http://schemas.openxmlformats.org/drawingml/2006/main" w="0">
            <a:solidFill>
              <a:srgbClr val="C85C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41065-9061-4D64-8BAB-B7FA31A2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62225"/>
            <a:ext cx="1419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潮流标签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E4366-7F2C-4767-A32A-E595EF8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43225"/>
            <a:ext cx="14192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|V| · θ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Pij · Qij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2473C5-C022-4352-A684-B3C8D77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33925"/>
            <a:ext cx="9163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1430">
            <a:solidFill>
              <a:srgbClr val="CBD4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972728-A5D3-44B2-8BFE-A538F543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33950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评价维度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2E731-8819-4690-A1E2-691E348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334000"/>
            <a:ext cx="848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节点/线路误差   ·   最大物理残差   ·   可行/收敛率   ·   约束违规率   ·   推理速度</a:t>
            </a:r>
          </a:p>
        </p:txBody>
      </p:sp>
    </p:spTree>
    <p:extLst>
      <p:ext uri="{BB962C8B-B14F-4D97-AF65-F5344CB8AC3E}">
        <p14:creationId xmlns:p14="http://schemas.microsoft.com/office/powerpoint/2010/main" val="409820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BF79-DD70-41C5-984F-C862908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2D07D-9764-4B3E-9E56-56A19121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当前生成器已经形成端到端世界与一周动态运行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ACFED-C559-4C2D-8CB2-947884D6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现阶段重点不是继续增加视觉效果，而是为每个阶段补齐理论、校准数据和验收指标。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BF708-7944-417D-9660-807F76B4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7a8efc68f404e"/>
          <a:stretch xmlns:a="http://schemas.openxmlformats.org/drawingml/2006/main"/>
        </p:blipFill>
        <p:spPr>
          <a:xfrm xmlns:a="http://schemas.openxmlformats.org/drawingml/2006/main">
            <a:off x="955675" y="2038350"/>
            <a:ext cx="4422775" cy="37909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58c7a01ee4715"/>
          <a:stretch xmlns:a="http://schemas.openxmlformats.org/drawingml/2006/main"/>
        </p:blipFill>
        <p:spPr>
          <a:xfrm xmlns:a="http://schemas.openxmlformats.org/drawingml/2006/main">
            <a:off x="6660621" y="2038350"/>
            <a:ext cx="4633383" cy="3790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17DF2-93A7-4508-9302-2DEC18F8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905500"/>
            <a:ext cx="5324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地形、水体、城市和土地用途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AFAE6-50F1-469F-B624-38A16C37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541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源荷节点、线路走廊与电气拓扑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81E5D-6300-4D65-A8E6-AC6208D7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34125"/>
            <a:ext cx="819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64 km基准：8个城市、约120万人；128 km尺度化：约24个城市、约406万人</a:t>
            </a:r>
          </a:p>
        </p:txBody>
      </p:sp>
    </p:spTree>
    <p:extLst>
      <p:ext uri="{BB962C8B-B14F-4D97-AF65-F5344CB8AC3E}">
        <p14:creationId xmlns:p14="http://schemas.microsoft.com/office/powerpoint/2010/main" val="1076806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3CF30-12F4-4FF9-924B-47EBEC3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解析链 1/2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81CAA-7E17-445F-856F-5914FDC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地形—水文—天气必须形成可解释的外部物理驱动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5DB30-819D-4B04-8858-4676D66B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每一层输出中间变量，并以真实DEM、河网和再分析气象的统计量进行校准。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C9B5A-1ECB-428F-99A5-F93706D2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47a63c35b4d36"/>
          <a:stretch xmlns:a="http://schemas.openxmlformats.org/drawingml/2006/main"/>
        </p:blipFill>
        <p:spPr>
          <a:xfrm xmlns:a="http://schemas.openxmlformats.org/drawingml/2006/main">
            <a:off x="688181" y="2038350"/>
            <a:ext cx="4738688" cy="37909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c4e1fab314b7b"/>
          <a:stretch xmlns:a="http://schemas.openxmlformats.org/drawingml/2006/main"/>
        </p:blipFill>
        <p:spPr>
          <a:xfrm xmlns:a="http://schemas.openxmlformats.org/drawingml/2006/main">
            <a:off x="6029325" y="2187087"/>
            <a:ext cx="5676900" cy="34934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7E14-48A1-485A-8E07-9709AD8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895975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Priority-Flood + D8/D∞ + 汇流累积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BE705-07F7-4C54-9923-4715CF9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895975"/>
            <a:ext cx="567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平流—扩散—源汇 + 高程与水体修正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F7B84-652C-40DA-A886-9D489281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96025"/>
            <a:ext cx="805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验收：尺度谱 · 河网连通 · 排水密度 · 时空自相关 · 云雨条件概率</a:t>
            </a:r>
          </a:p>
        </p:txBody>
      </p:sp>
    </p:spTree>
    <p:extLst>
      <p:ext uri="{BB962C8B-B14F-4D97-AF65-F5344CB8AC3E}">
        <p14:creationId xmlns:p14="http://schemas.microsoft.com/office/powerpoint/2010/main" val="1703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DDDF1-1B39-4C20-8446-8C392DD4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解析链 2/2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695F3-050A-42FF-9139-B5AF8FF0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城市—源荷—电网必须形成可审计的规划与运行模型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F653B-2EE5-4F9C-A068-9ABC8D82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城市和资源决定注入位置，图优化决定网络，AC/DC潮流与多时段优化产生运行标签。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77AF1-52A7-4C6F-9C85-8CBAD0BA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dba1d8c1f46f1"/>
          <a:stretch xmlns:a="http://schemas.openxmlformats.org/drawingml/2006/main"/>
        </p:blipFill>
        <p:spPr>
          <a:xfrm xmlns:a="http://schemas.openxmlformats.org/drawingml/2006/main">
            <a:off x="943504" y="2047875"/>
            <a:ext cx="4447117" cy="36385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1af9ce39b4f96"/>
          <a:stretch xmlns:a="http://schemas.openxmlformats.org/drawingml/2006/main"/>
        </p:blipFill>
        <p:spPr>
          <a:xfrm xmlns:a="http://schemas.openxmlformats.org/drawingml/2006/main">
            <a:off x="6257925" y="2993898"/>
            <a:ext cx="5457825" cy="174650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231E7-395B-4781-9142-F5B1F35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541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适宜度、覆盖、距离与资源曲线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82DEC-4D0F-43D9-BDF6-AF47E7E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781675"/>
            <a:ext cx="545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负荷、风光、火电容量与储能需求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91990-45AE-4343-B0B4-E08CC829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286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AC潮流是论文主标签；DC潮流是速度基线与误差对照</a:t>
            </a:r>
          </a:p>
        </p:txBody>
      </p:sp>
    </p:spTree>
    <p:extLst>
      <p:ext uri="{BB962C8B-B14F-4D97-AF65-F5344CB8AC3E}">
        <p14:creationId xmlns:p14="http://schemas.microsoft.com/office/powerpoint/2010/main" val="1835991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0E723-9B68-40CE-9767-9402555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系统组成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BAE7F-509E-43AC-B78D-409F25C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环境场、活动场与电气网络共同构成多模态潮流场景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86F69-F4D7-4ABE-A1D3-E507B78D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各层保留显式中间变量，使数据规律、规划结果和潮流状态可以分别观察与校准。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7E225-16D8-4F4E-8C63-4ED6D08A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B9099-537B-4BF9-BE9E-13CD6605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3476625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11430">
            <a:solidFill>
              <a:srgbClr val="4C95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46ADB-8E49-4A85-AF4A-84C053C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76450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31126-8CE7-4899-AA25-8F0BE68D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133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rPr>
              <a:t>环境与天气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EBC51-FC25-4C09-85F6-B80EB922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313372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地形 / 水文 / 风险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基础气候 / 小时天气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云雨 / 温湿 / 辐照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形成外部驱动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A0CE1-1128-4038-A737-72CFDB0B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3476625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72057-A846-4926-B8D1-E0535F42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FA451-6047-4D61-8A1D-D64789C3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33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城市与源荷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18F6A-88F9-4C73-B526-231D0818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313372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城市 / 土地利用 / 人口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负荷 / 风电 / 光伏 / 火电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资源与需求时间序列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形成节点注入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38D03-56CE-4663-A254-1640467D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76450"/>
            <a:ext cx="3476625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BF2E2"/>
          </a:solidFill>
          <a:ln xmlns:a="http://schemas.openxmlformats.org/drawingml/2006/main" w="11430">
            <a:solidFill>
              <a:srgbClr val="D99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3B702-BCA3-454B-B570-CB2DE0E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76450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solidFill>
              <a:srgbClr val="D99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C6F2B-3570-4487-836B-0AC37AF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133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rPr>
              <a:t>电网与运行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BDF15-56E6-4E0C-908C-8D13007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313372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母线 / 线路 / 电气参数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AC/DC潮流 / 网络安全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储能需求 / 多时段调度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形成物理状态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D4E8D-644F-4CEF-9851-57BEACF6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统一坐标、统一时间轴与统一节点/线路标识连接全部模态</a:t>
            </a:r>
          </a:p>
        </p:txBody>
      </p:sp>
    </p:spTree>
    <p:extLst>
      <p:ext uri="{BB962C8B-B14F-4D97-AF65-F5344CB8AC3E}">
        <p14:creationId xmlns:p14="http://schemas.microsoft.com/office/powerpoint/2010/main" val="4672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EAC9B2-3732-48D4-99FE-16A6479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期望能力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128AA-D584-42D9-AB86-8A8C8362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从可视化生成程序升级为可解释、可校准的潮流Benchmark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6A3C5-2F95-4FD2-944E-5FD5F02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目标状态由场景可信度、标签可信度、可控实验能力和统一评测共同定义。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578B9-8D7C-4E5D-B7B9-B49153DF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CC493-7F5D-4729-8AF3-699A61C8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1714500" cy="31051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7FBD5-1FE7-4A33-829D-2BD6347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2F9E3-8EFD-43F1-B312-1C1D0749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ECDD7-1936-4A32-A035-B701DEAE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622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可解释生成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8C006-7AC5-4C35-BB16-7A0B0BE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24275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明确方程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参数与单位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5ECC8-18B4-42B1-A961-445AED79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2000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ED5B2-4DFA-45EC-BE72-F94A617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1714500" cy="31051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391D8-3F0A-4709-913F-0729E500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912A4-3EA7-444D-BE4D-93590F02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19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5519A-866D-4205-ABCA-EE651D2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真实校准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CD4ED-A814-45AC-873B-05501C9E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24275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公开数据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分布与相关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典型范围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62E8B-4A58-4CA2-AFE8-9B2821BD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19500"/>
            <a:ext cx="2000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BF9B3-B5B1-4C81-BBE9-9C51C088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1714500" cy="31051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C95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DBFEE-9A65-4844-A9BE-BF01A37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AD217-598A-4000-AE27-7A38F96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EC1EF-35E6-4A66-BAA5-C506C282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622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跨尺度世界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D78F5-DA41-43C8-8336-7F8FB66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24275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新增结构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统计稳定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局部连续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71438-F376-45FA-803A-BAE23A5B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2000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4115A-80C3-4296-99BF-CB485722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81225"/>
            <a:ext cx="1714500" cy="31051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7C5AA-041A-4E5F-86E4-99608F24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812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solidFill>
              <a:srgbClr val="D99A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0F1AE-33E1-4EF0-9CFF-6E4C0F8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19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7C5C4-90E6-475E-A918-C535BFBA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物理标签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8DCFE0-74B8-4404-87B8-2199156C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24275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AC/DC潮流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约束残差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可行标记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7ACFC-B631-4E8B-9A65-4EB538B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2000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C105F-31D2-4A00-BDDF-3FFC5D2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81225"/>
            <a:ext cx="1714500" cy="31051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C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5A17E-954D-4FE6-B582-F9D8F69A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812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5C"/>
          </a:solidFill>
          <a:ln xmlns:a="http://schemas.openxmlformats.org/drawingml/2006/main" w="0">
            <a:solidFill>
              <a:srgbClr val="C85C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A0425-AC19-4593-A898-32161FCB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FED958-2B92-4BB0-8A1E-A2C2877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622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可控场景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F7A79E-CE71-44DA-B865-447E4ECC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24275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气候/城市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能源/故障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模态缺失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8EAE7-FC72-4ACF-915D-CDA93B16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19500"/>
            <a:ext cx="20002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solidFill>
              <a:srgbClr val="CBD4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BFC8E-F145-409C-B338-E8F4F3EA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181225"/>
            <a:ext cx="1714500" cy="31051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51D221-3D26-4A96-97E5-1A00678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1812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D77EEC-9315-4DB5-A449-633D035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193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729006-B653-46B2-8C1A-0E8B97D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622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统一评测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D72133-58B3-491A-A79D-0313FF5A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24275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IID/OOD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节点/线路</a:t>
            </a:r>
          </a:p>
          <a:p xmlns:a="http://schemas.openxmlformats.org/drawingml/2006/main">
            <a:pPr algn="ctr">
              <a:def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精度与效率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F7CE64-713D-406A-8485-366FC451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848350"/>
            <a:ext cx="901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总体路径：真实数据校准 → 解析场景生成 → AC求解器标签 → 跨场景Benchmark</a:t>
            </a:r>
          </a:p>
        </p:txBody>
      </p:sp>
    </p:spTree>
    <p:extLst>
      <p:ext uri="{BB962C8B-B14F-4D97-AF65-F5344CB8AC3E}">
        <p14:creationId xmlns:p14="http://schemas.microsoft.com/office/powerpoint/2010/main" val="304302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5774C-6EEB-46E7-ABA0-05A4C222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关键研究问题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1F0B3-4BC9-4C9E-A1F1-EDBF751A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理论调研围绕数据、自然规律与电气物理三条线展开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52379-EA62-4364-82D3-2E64726E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每个问题最终对应生成规则、可观测中间量和定量验证方式。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051D8-EB4F-4C4B-B1A4-1A8DB9D7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92A8F-10AD-44F9-A3FB-BDDA2DB4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3276600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11430">
            <a:solidFill>
              <a:srgbClr val="4C95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7DDF9-19C4-4914-9617-05280EF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9704-C77E-4833-8169-4BBBFC6C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47900"/>
            <a:ext cx="293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rPr>
              <a:t>公开数据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2D66-6C37-48C8-A0A5-3154BB96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28900"/>
            <a:ext cx="29337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电网算例与潮流标签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气象与风光资源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负荷与运行时序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土地与人口活动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6DA96-A36F-406B-9CF0-99AD011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3276600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19285-0097-4779-AA5F-53F02AD2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B77A9-ACDC-4EAC-ACC6-5EC87492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293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解析规律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5A8BC-729D-4A3A-BDA5-743C038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9337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地形尺度谱与侵蚀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河网与汇流规律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云雨平流与地形作用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城市、土地与资源分布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FAEC3-6CEA-46B2-941D-F3C47FE4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85975"/>
            <a:ext cx="3276600" cy="2962275"/>
          </a:xfrm>
          <a:prstGeom xmlns:a="http://schemas.openxmlformats.org/drawingml/2006/main" prst="roundRect">
            <a:avLst>
              <a:gd name="adj" fmla="val 2572"/>
            </a:avLst>
          </a:prstGeom>
          <a:solidFill xmlns:a="http://schemas.openxmlformats.org/drawingml/2006/main">
            <a:srgbClr val="FBF2E2"/>
          </a:solidFill>
          <a:ln xmlns:a="http://schemas.openxmlformats.org/drawingml/2006/main" w="11430">
            <a:solidFill>
              <a:srgbClr val="D99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CFE1B-F56B-493F-AF44-7FB1F6CA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85975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solidFill>
              <a:srgbClr val="D99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89636-9233-48F2-BD4D-9C379DA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47900"/>
            <a:ext cx="293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rPr>
              <a:t>电气物理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333DA-5540-4887-AD79-8FCCF405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28900"/>
            <a:ext cx="29337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节点与线路参数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拓扑规划与可靠性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AC/DC潮流边界</a:t>
            </a:r>
          </a:p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储能和多时段调度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0B5EA-4F86-497B-9435-7DB1626C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435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关注点：规律是否可解释、参数是否可校准、结果是否可由真实数据或标准算例核验</a:t>
            </a:r>
          </a:p>
        </p:txBody>
      </p:sp>
    </p:spTree>
    <p:extLst>
      <p:ext uri="{BB962C8B-B14F-4D97-AF65-F5344CB8AC3E}">
        <p14:creationId xmlns:p14="http://schemas.microsoft.com/office/powerpoint/2010/main" val="1725364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3B244-B713-42EB-A23A-8840997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8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预期形态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00A1F-F2C6-47A8-9A37-D4F5CDC5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从生成程序升级为可解释、可校准、可复现的潮流Benchmark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45DAA-DE83-4DB9-92CC-1C1AD96E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C6973"/>
                </a:solidFill>
                <a:latin typeface="Microsoft YaHei"/>
                <a:ea typeface="Microsoft YaHei"/>
                <a:cs typeface="Microsoft YaHei"/>
              </a:rPr>
              <a:t>完整系统由解析生成器、物理标签、可控场景和统一评测协议共同构成。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243EB-2798-4BB2-8346-E5FFA21F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54974-829A-4830-8BFF-070DE32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19325"/>
            <a:ext cx="2571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C2065-6978-4EF1-B00F-60E3142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193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0902A-A838-4298-8A9A-F2BA25E8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解析生成器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966DD-929A-459D-9DCF-0F82972E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2228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各阶段有方程、单位、参数和边界条件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A9DA5-8527-4502-91C0-011B30A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19325"/>
            <a:ext cx="2571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AF7E1-7AEC-454E-B109-6F1B6D5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193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CF786-DF97-4F3F-A275-621266FA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物理标签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CB8C3-F1C4-4DA6-8619-C89DDF6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2228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AC/DC潮流、调度、储能与安全状态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3FAC9-F908-4A7F-A7B1-4C335BE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19325"/>
            <a:ext cx="2571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11430">
            <a:solidFill>
              <a:srgbClr val="4C95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683BB-D560-4404-A8E8-F5BB65BC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193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82A54-D026-43F7-8B66-05C2C2E5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8125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956C"/>
                </a:solidFill>
                <a:latin typeface="Microsoft YaHei"/>
                <a:ea typeface="Microsoft YaHei"/>
                <a:cs typeface="Microsoft YaHei"/>
              </a:rPr>
              <a:t>可控场景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C388B-70F7-419B-BFDB-E7163B3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62250"/>
            <a:ext cx="2228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地图尺度、气候、城市、能源结构和故障可调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F921E-E0F0-4FDB-BA5A-31812DE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19325"/>
            <a:ext cx="2571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BF2E2"/>
          </a:solidFill>
          <a:ln xmlns:a="http://schemas.openxmlformats.org/drawingml/2006/main" w="11430">
            <a:solidFill>
              <a:srgbClr val="D99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C251C-3AA1-450E-8FD5-F5ADC649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193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solidFill>
              <a:srgbClr val="D9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9F073-AFC0-4300-90D2-D1B476D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8125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9A35"/>
                </a:solidFill>
                <a:latin typeface="Microsoft YaHei"/>
                <a:ea typeface="Microsoft YaHei"/>
                <a:cs typeface="Microsoft YaHei"/>
              </a:rPr>
              <a:t>标准协议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A4594-A0F9-4C3C-BB90-BCD4B0A5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62250"/>
            <a:ext cx="2228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IID/OOD/缺失模态/N-1及统一评估器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CDA5C-E347-4EC7-8816-F113650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57750"/>
            <a:ext cx="90106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1430">
            <a:solidFill>
              <a:srgbClr val="CBD4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A30D0-4BB6-419E-954F-A5DC246D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482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论文主张边界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376F0-BA1C-4211-9EC7-A4A666D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10150"/>
            <a:ext cx="658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027"/>
                </a:solidFill>
                <a:latin typeface="Microsoft YaHei"/>
                <a:ea typeface="Microsoft YaHei"/>
                <a:cs typeface="Microsoft YaHei"/>
              </a:rPr>
              <a:t>不声称合成世界等同现实；主张其能够系统控制变量、产生物理可验证标签，并测量模型跨世界泛化。</a:t>
            </a:r>
          </a:p>
        </p:txBody>
      </p:sp>
    </p:spTree>
    <p:extLst>
      <p:ext uri="{BB962C8B-B14F-4D97-AF65-F5344CB8AC3E}">
        <p14:creationId xmlns:p14="http://schemas.microsoft.com/office/powerpoint/2010/main" val="945344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2026-08-13T09:32:25.4950000Z</dcterms:created>
  <dcterms:modified xsi:type="dcterms:W3CDTF">2026-08-13T09:32:25.4950000Z</dcterms:modified>
</coreProperties>
</file>